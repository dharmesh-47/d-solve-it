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anias Bold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81250"/>
            <a:ext cx="13268902" cy="188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  <a:spcBef>
                <a:spcPct val="0"/>
              </a:spcBef>
            </a:pPr>
            <a:r>
              <a:rPr lang="en-US" sz="5456" spc="37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Ph process simulator and feedback controller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99214" y="7485721"/>
            <a:ext cx="4360086" cy="177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sz="3358" spc="2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water</a:t>
            </a:r>
          </a:p>
          <a:p>
            <a:pPr algn="ctr">
              <a:lnSpc>
                <a:spcPts val="4701"/>
              </a:lnSpc>
            </a:pPr>
            <a:r>
              <a:rPr lang="en-US" sz="3358" spc="2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CH23B008</a:t>
            </a:r>
          </a:p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3358" spc="2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Dharmesh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3530" y="1957827"/>
            <a:ext cx="7412372" cy="2187989"/>
          </a:xfrm>
          <a:custGeom>
            <a:avLst/>
            <a:gdLst/>
            <a:ahLst/>
            <a:cxnLst/>
            <a:rect r="r" b="b" t="t" l="l"/>
            <a:pathLst>
              <a:path h="2187989" w="7412372">
                <a:moveTo>
                  <a:pt x="0" y="0"/>
                </a:moveTo>
                <a:lnTo>
                  <a:pt x="7412372" y="0"/>
                </a:lnTo>
                <a:lnTo>
                  <a:pt x="7412372" y="2187989"/>
                </a:lnTo>
                <a:lnTo>
                  <a:pt x="0" y="2187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3202" y="4688741"/>
            <a:ext cx="6780798" cy="1861395"/>
          </a:xfrm>
          <a:custGeom>
            <a:avLst/>
            <a:gdLst/>
            <a:ahLst/>
            <a:cxnLst/>
            <a:rect r="r" b="b" t="t" l="l"/>
            <a:pathLst>
              <a:path h="1861395" w="6780798">
                <a:moveTo>
                  <a:pt x="0" y="0"/>
                </a:moveTo>
                <a:lnTo>
                  <a:pt x="6780798" y="0"/>
                </a:lnTo>
                <a:lnTo>
                  <a:pt x="6780798" y="1861395"/>
                </a:lnTo>
                <a:lnTo>
                  <a:pt x="0" y="1861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78990" y="7077677"/>
            <a:ext cx="5761453" cy="1291962"/>
          </a:xfrm>
          <a:custGeom>
            <a:avLst/>
            <a:gdLst/>
            <a:ahLst/>
            <a:cxnLst/>
            <a:rect r="r" b="b" t="t" l="l"/>
            <a:pathLst>
              <a:path h="1291962" w="5761453">
                <a:moveTo>
                  <a:pt x="0" y="0"/>
                </a:moveTo>
                <a:lnTo>
                  <a:pt x="5761452" y="0"/>
                </a:lnTo>
                <a:lnTo>
                  <a:pt x="5761452" y="1291963"/>
                </a:lnTo>
                <a:lnTo>
                  <a:pt x="0" y="1291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12592" y="1957827"/>
            <a:ext cx="6572316" cy="1484710"/>
          </a:xfrm>
          <a:custGeom>
            <a:avLst/>
            <a:gdLst/>
            <a:ahLst/>
            <a:cxnLst/>
            <a:rect r="r" b="b" t="t" l="l"/>
            <a:pathLst>
              <a:path h="1484710" w="6572316">
                <a:moveTo>
                  <a:pt x="0" y="0"/>
                </a:moveTo>
                <a:lnTo>
                  <a:pt x="6572317" y="0"/>
                </a:lnTo>
                <a:lnTo>
                  <a:pt x="6572317" y="1484710"/>
                </a:lnTo>
                <a:lnTo>
                  <a:pt x="0" y="1484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12592" y="4145816"/>
            <a:ext cx="6381206" cy="863622"/>
          </a:xfrm>
          <a:custGeom>
            <a:avLst/>
            <a:gdLst/>
            <a:ahLst/>
            <a:cxnLst/>
            <a:rect r="r" b="b" t="t" l="l"/>
            <a:pathLst>
              <a:path h="863622" w="6381206">
                <a:moveTo>
                  <a:pt x="0" y="0"/>
                </a:moveTo>
                <a:lnTo>
                  <a:pt x="6381206" y="0"/>
                </a:lnTo>
                <a:lnTo>
                  <a:pt x="6381206" y="863622"/>
                </a:lnTo>
                <a:lnTo>
                  <a:pt x="0" y="86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40021" y="5441188"/>
            <a:ext cx="2726348" cy="708421"/>
          </a:xfrm>
          <a:custGeom>
            <a:avLst/>
            <a:gdLst/>
            <a:ahLst/>
            <a:cxnLst/>
            <a:rect r="r" b="b" t="t" l="l"/>
            <a:pathLst>
              <a:path h="708421" w="2726348">
                <a:moveTo>
                  <a:pt x="0" y="0"/>
                </a:moveTo>
                <a:lnTo>
                  <a:pt x="2726348" y="0"/>
                </a:lnTo>
                <a:lnTo>
                  <a:pt x="2726348" y="708421"/>
                </a:lnTo>
                <a:lnTo>
                  <a:pt x="0" y="708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445" y="6660889"/>
            <a:ext cx="5589874" cy="833578"/>
          </a:xfrm>
          <a:custGeom>
            <a:avLst/>
            <a:gdLst/>
            <a:ahLst/>
            <a:cxnLst/>
            <a:rect r="r" b="b" t="t" l="l"/>
            <a:pathLst>
              <a:path h="833578" w="5589874">
                <a:moveTo>
                  <a:pt x="0" y="0"/>
                </a:moveTo>
                <a:lnTo>
                  <a:pt x="5589875" y="0"/>
                </a:lnTo>
                <a:lnTo>
                  <a:pt x="5589875" y="833577"/>
                </a:lnTo>
                <a:lnTo>
                  <a:pt x="0" y="833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9369" y="747661"/>
            <a:ext cx="6261377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5"/>
              </a:lnSpc>
              <a:spcBef>
                <a:spcPct val="0"/>
              </a:spcBef>
            </a:pPr>
            <a:r>
              <a:rPr lang="en-US" sz="3875" spc="267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Main equations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9600" y="525742"/>
            <a:ext cx="6235583" cy="4428427"/>
          </a:xfrm>
          <a:custGeom>
            <a:avLst/>
            <a:gdLst/>
            <a:ahLst/>
            <a:cxnLst/>
            <a:rect r="r" b="b" t="t" l="l"/>
            <a:pathLst>
              <a:path h="4428427" w="6235583">
                <a:moveTo>
                  <a:pt x="0" y="0"/>
                </a:moveTo>
                <a:lnTo>
                  <a:pt x="6235583" y="0"/>
                </a:lnTo>
                <a:lnTo>
                  <a:pt x="6235583" y="4428427"/>
                </a:lnTo>
                <a:lnTo>
                  <a:pt x="0" y="4428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1100" y="3322077"/>
            <a:ext cx="6213352" cy="5542364"/>
          </a:xfrm>
          <a:custGeom>
            <a:avLst/>
            <a:gdLst/>
            <a:ahLst/>
            <a:cxnLst/>
            <a:rect r="r" b="b" t="t" l="l"/>
            <a:pathLst>
              <a:path h="5542364" w="6213352">
                <a:moveTo>
                  <a:pt x="0" y="0"/>
                </a:moveTo>
                <a:lnTo>
                  <a:pt x="6213352" y="0"/>
                </a:lnTo>
                <a:lnTo>
                  <a:pt x="6213352" y="5542364"/>
                </a:lnTo>
                <a:lnTo>
                  <a:pt x="0" y="554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99600" y="5274642"/>
            <a:ext cx="6235583" cy="4404215"/>
          </a:xfrm>
          <a:custGeom>
            <a:avLst/>
            <a:gdLst/>
            <a:ahLst/>
            <a:cxnLst/>
            <a:rect r="r" b="b" t="t" l="l"/>
            <a:pathLst>
              <a:path h="4404215" w="6235583">
                <a:moveTo>
                  <a:pt x="0" y="0"/>
                </a:moveTo>
                <a:lnTo>
                  <a:pt x="6235583" y="0"/>
                </a:lnTo>
                <a:lnTo>
                  <a:pt x="6235583" y="4404215"/>
                </a:lnTo>
                <a:lnTo>
                  <a:pt x="0" y="4404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81100" y="1212480"/>
            <a:ext cx="6013199" cy="93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 spc="18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Comparing mixing response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9600" y="110158"/>
            <a:ext cx="3530855" cy="26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504" spc="103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Dead zone conc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52000" y="9793157"/>
            <a:ext cx="3530855" cy="26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504" spc="103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ideal zone conc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6479" y="2594141"/>
            <a:ext cx="8133779" cy="5729821"/>
          </a:xfrm>
          <a:custGeom>
            <a:avLst/>
            <a:gdLst/>
            <a:ahLst/>
            <a:cxnLst/>
            <a:rect r="r" b="b" t="t" l="l"/>
            <a:pathLst>
              <a:path h="5729821" w="8133779">
                <a:moveTo>
                  <a:pt x="0" y="0"/>
                </a:moveTo>
                <a:lnTo>
                  <a:pt x="8133779" y="0"/>
                </a:lnTo>
                <a:lnTo>
                  <a:pt x="8133779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22944"/>
            <a:ext cx="5164391" cy="3649799"/>
          </a:xfrm>
          <a:custGeom>
            <a:avLst/>
            <a:gdLst/>
            <a:ahLst/>
            <a:cxnLst/>
            <a:rect r="r" b="b" t="t" l="l"/>
            <a:pathLst>
              <a:path h="3649799" w="5164391">
                <a:moveTo>
                  <a:pt x="0" y="0"/>
                </a:moveTo>
                <a:lnTo>
                  <a:pt x="5164391" y="0"/>
                </a:lnTo>
                <a:lnTo>
                  <a:pt x="5164391" y="3649799"/>
                </a:lnTo>
                <a:lnTo>
                  <a:pt x="0" y="3649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2498" y="6214552"/>
            <a:ext cx="5316794" cy="3759733"/>
          </a:xfrm>
          <a:custGeom>
            <a:avLst/>
            <a:gdLst/>
            <a:ahLst/>
            <a:cxnLst/>
            <a:rect r="r" b="b" t="t" l="l"/>
            <a:pathLst>
              <a:path h="3759733" w="5316794">
                <a:moveTo>
                  <a:pt x="0" y="0"/>
                </a:moveTo>
                <a:lnTo>
                  <a:pt x="5316795" y="0"/>
                </a:lnTo>
                <a:lnTo>
                  <a:pt x="5316795" y="3759733"/>
                </a:lnTo>
                <a:lnTo>
                  <a:pt x="0" y="3759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498" y="646555"/>
            <a:ext cx="5718684" cy="45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 spc="18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simulating errors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6479" y="1936864"/>
            <a:ext cx="3530855" cy="31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  <a:spcBef>
                <a:spcPct val="0"/>
              </a:spcBef>
            </a:pPr>
            <a:r>
              <a:rPr lang="en-US" sz="1904" spc="1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pH vs time graph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78396"/>
            <a:ext cx="3530855" cy="31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 spc="1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noise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498" y="5900988"/>
            <a:ext cx="3530855" cy="31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6"/>
              </a:lnSpc>
              <a:spcBef>
                <a:spcPct val="0"/>
              </a:spcBef>
            </a:pPr>
            <a:r>
              <a:rPr lang="en-US" sz="1904" spc="131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drift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20927" y="2572931"/>
            <a:ext cx="9435257" cy="7002096"/>
          </a:xfrm>
          <a:custGeom>
            <a:avLst/>
            <a:gdLst/>
            <a:ahLst/>
            <a:cxnLst/>
            <a:rect r="r" b="b" t="t" l="l"/>
            <a:pathLst>
              <a:path h="7002096" w="9435257">
                <a:moveTo>
                  <a:pt x="0" y="0"/>
                </a:moveTo>
                <a:lnTo>
                  <a:pt x="9435256" y="0"/>
                </a:lnTo>
                <a:lnTo>
                  <a:pt x="9435256" y="7002096"/>
                </a:lnTo>
                <a:lnTo>
                  <a:pt x="0" y="7002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07954"/>
            <a:ext cx="11987653" cy="45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 spc="18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comparing simulation and experimental 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4920" y="1452602"/>
            <a:ext cx="10938161" cy="8159963"/>
          </a:xfrm>
          <a:custGeom>
            <a:avLst/>
            <a:gdLst/>
            <a:ahLst/>
            <a:cxnLst/>
            <a:rect r="r" b="b" t="t" l="l"/>
            <a:pathLst>
              <a:path h="8159963" w="10938161">
                <a:moveTo>
                  <a:pt x="0" y="0"/>
                </a:moveTo>
                <a:lnTo>
                  <a:pt x="10938160" y="0"/>
                </a:lnTo>
                <a:lnTo>
                  <a:pt x="10938160" y="8159964"/>
                </a:lnTo>
                <a:lnTo>
                  <a:pt x="0" y="8159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5548" y="777303"/>
            <a:ext cx="11987653" cy="45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 spc="18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DYnamic step response simulated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8924" y="1966700"/>
            <a:ext cx="10510414" cy="7291600"/>
          </a:xfrm>
          <a:custGeom>
            <a:avLst/>
            <a:gdLst/>
            <a:ahLst/>
            <a:cxnLst/>
            <a:rect r="r" b="b" t="t" l="l"/>
            <a:pathLst>
              <a:path h="7291600" w="10510414">
                <a:moveTo>
                  <a:pt x="0" y="0"/>
                </a:moveTo>
                <a:lnTo>
                  <a:pt x="10510414" y="0"/>
                </a:lnTo>
                <a:lnTo>
                  <a:pt x="10510414" y="7291600"/>
                </a:lnTo>
                <a:lnTo>
                  <a:pt x="0" y="7291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5548" y="777303"/>
            <a:ext cx="11987653" cy="45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 spc="18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DYnamic step response Given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7089" y="1838890"/>
            <a:ext cx="10510583" cy="2824719"/>
          </a:xfrm>
          <a:custGeom>
            <a:avLst/>
            <a:gdLst/>
            <a:ahLst/>
            <a:cxnLst/>
            <a:rect r="r" b="b" t="t" l="l"/>
            <a:pathLst>
              <a:path h="2824719" w="10510583">
                <a:moveTo>
                  <a:pt x="0" y="0"/>
                </a:moveTo>
                <a:lnTo>
                  <a:pt x="10510583" y="0"/>
                </a:lnTo>
                <a:lnTo>
                  <a:pt x="10510583" y="2824720"/>
                </a:lnTo>
                <a:lnTo>
                  <a:pt x="0" y="2824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77303"/>
            <a:ext cx="11987653" cy="45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 spc="186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Approach for controller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225585"/>
            <a:ext cx="11987653" cy="1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we will use a pid controller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ph will be process variable </a:t>
            </a:r>
          </a:p>
          <a:p>
            <a:pPr algn="l" marL="519225" indent="-259613" lvl="1">
              <a:lnSpc>
                <a:spcPts val="3366"/>
              </a:lnSpc>
              <a:buFont typeface="Arial"/>
              <a:buChar char="•"/>
            </a:pPr>
            <a:r>
              <a:rPr lang="en-US" sz="2404" spc="165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flowrate of influent is control variable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9549" y="4032990"/>
            <a:ext cx="13268902" cy="97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spc="390">
                <a:solidFill>
                  <a:srgbClr val="000000"/>
                </a:solidFill>
                <a:latin typeface="Ananias Bold"/>
                <a:ea typeface="Ananias Bold"/>
                <a:cs typeface="Ananias Bold"/>
                <a:sym typeface="Anania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DAG4CuNg2eo</dc:identifier>
  <dcterms:modified xsi:type="dcterms:W3CDTF">2011-08-01T06:04:30Z</dcterms:modified>
  <cp:revision>1</cp:revision>
  <dc:title>Water-CH23B008</dc:title>
</cp:coreProperties>
</file>